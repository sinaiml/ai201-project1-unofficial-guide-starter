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731520"/>
            <a:ext cx="3200400" cy="3200400"/>
          </a:xfrm>
          <a:prstGeom prst="ellipse">
            <a:avLst/>
          </a:prstGeom>
          <a:solidFill>
            <a:srgbClr val="1B6CA8">
              <a:alpha val="25000"/>
            </a:srgbClr>
          </a:solidFill>
          <a:ln w="12700">
            <a:solidFill>
              <a:srgbClr val="1B6CA8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</a:rPr>
              <a:t>PROJECT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Unofficial Guide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RAG System for CU Boulder MS-DS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154680"/>
            <a:ext cx="7863840" cy="274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91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B8D0"/>
                </a:solidFill>
              </a:rPr>
              <a:t>Student reviews + official curriculum  →  informed course decisions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0B8D0"/>
                </a:solidFill>
              </a:rPr>
              <a:t>Groq LLaMA 3.3 · ChromaDB · sentence-transformers · Streamlit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28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DOMAIN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4389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Official course catalogs describe what a course covers — but never how it is actually taught.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Candid signals like teaching style, exam difficulty, grading fairness, and workload are scattered across RateMyProfessors and hard to assess before enrolling.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The Unofficial Guide lets prospective MS-DS students make informed decisions about whether and how to take a course.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0" y="1188720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20640" y="1316736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1316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0" y="123444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How well does a professor teach?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0" y="1847088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120640" y="1975104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1975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0" y="189280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What should a student keep in mind for a course?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2505456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20640" y="2633472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2633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0" y="2551176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How hard are exams, grading &amp; structure?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3163824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120640" y="3291840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3291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0" y="3209544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What are the specific negatives of a teaching style?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3822192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120640" y="3950208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3950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0" y="3867912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Which courses does a professor handle?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28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Overview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160020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463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Document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Ingestion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9659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</a:rPr>
              <a:t>documents/*.json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</a:rPr>
              <a:t>19 sources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874520" y="1892808"/>
            <a:ext cx="15544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93392" y="1837944"/>
            <a:ext cx="36576" cy="1645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29968" y="1417320"/>
            <a:ext cx="1600200" cy="10972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29968" y="1463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Chunking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29968" y="19659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</a:rPr>
              <a:t>chunk.py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</a:rPr>
              <a:t>339 chunks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30168" y="1892808"/>
            <a:ext cx="15544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0" y="1837944"/>
            <a:ext cx="36576" cy="1645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85616" y="1417320"/>
            <a:ext cx="1600200" cy="10972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85616" y="1463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Embedding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+ Vector Store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85616" y="19659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</a:rPr>
              <a:t>all-MiniLM-L6-v2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</a:rPr>
              <a:t>ChromaDB cosine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385816" y="1892808"/>
            <a:ext cx="15544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04688" y="1837944"/>
            <a:ext cx="36576" cy="1645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41264" y="1417320"/>
            <a:ext cx="1600200" cy="10972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41264" y="1463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Retrieval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41264" y="19659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</a:rPr>
              <a:t>search.py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</a:rPr>
              <a:t>Semantic router + top-k=5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141464" y="1892808"/>
            <a:ext cx="15544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60336" y="1837944"/>
            <a:ext cx="36576" cy="1645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96912" y="1417320"/>
            <a:ext cx="1600200" cy="10972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296912" y="1463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Generation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+ Interface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96912" y="19659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</a:rPr>
              <a:t>Groq LLaMA 3.3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</a:rPr>
              <a:t>Streamlit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288036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2880360"/>
            <a:ext cx="420624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8803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Indexing (run once)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3218688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JSON documents → chunk.py (3 chunk types: review / summary / curriculum) → SentenceTransformer embeddings → ChromaDB persistent store (cosine, 384-dim)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00600" y="288036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2880360"/>
            <a:ext cx="4206240" cy="2926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8803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Query Time (Streamlit)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37760" y="3218688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User query → semantic router → metadata pre-filter → cosine top-k=5 retrieval → numbered context blocks → Groq llama-3.3-70b → grounded answer + [n] citations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28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DATA SOURCES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Sources: Reviews + Curriculum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411480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 Professor Review Pages (RateMyProfessors)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9496" y="1691640"/>
            <a:ext cx="128016" cy="128016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6002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Alfonso Bastias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9496" y="2176272"/>
            <a:ext cx="128016" cy="128016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208483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Jem Corcoran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9496" y="2660904"/>
            <a:ext cx="128016" cy="128016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2569464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Brian Zaharatos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9496" y="3145536"/>
            <a:ext cx="128016" cy="128016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3054096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Geena Kim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9496" y="3630168"/>
            <a:ext cx="128016" cy="128016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353872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Ioana Fleming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9496" y="4114800"/>
            <a:ext cx="128016" cy="128016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40233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Al Pisano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05456" y="1691640"/>
            <a:ext cx="128016" cy="128016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24912" y="16002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Sriram Sankarnarayanan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05456" y="2176272"/>
            <a:ext cx="128016" cy="128016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24912" y="208483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Qin Lv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05456" y="2660904"/>
            <a:ext cx="128016" cy="128016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24912" y="2569464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William Kuskin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05456" y="3145536"/>
            <a:ext cx="128016" cy="128016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24912" y="3054096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Osita Onyejekwe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05456" y="3630168"/>
            <a:ext cx="128016" cy="128016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24912" y="353872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Alan Paradise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05456" y="4114800"/>
            <a:ext cx="128016" cy="128016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24912" y="40233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Christopher Vargo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118872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1188720"/>
            <a:ext cx="4114800" cy="32918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118872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 Official MS-DS Curriculum Pages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37176" y="1691640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4920" y="16002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Curriculum Overview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37176" y="2112264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74920" y="20208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Bridge Courses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37176" y="2532888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74920" y="24414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Statistics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837176" y="2953512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74920" y="28620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Computer Science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837176" y="3374136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74920" y="328269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General Data Science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837176" y="3794760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74920" y="37033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Other Core Courses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837176" y="4215384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74920" y="412394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Data Science Electives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28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CHUNKING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3-Chunk Indexing Strategy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274320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Type A — Review Chunks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73152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37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One whole review per chunk (~70 tokens)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73152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2402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No overlap — reviews are self-contained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73152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7432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Metadata prefix injected before embedding: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73152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"Professor: &lt;name&gt; | Course: &lt;code&gt; | Review: ..."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73152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7490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Preserves full sentiment (e.g. "tough but fair")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0" y="123444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1234440"/>
            <a:ext cx="2743200" cy="40233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123444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Type 2 — Summary Chunks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37560" y="1828800"/>
            <a:ext cx="73152" cy="731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737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One synthesized chunk per professor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37560" y="2331720"/>
            <a:ext cx="73152" cy="731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2402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Aggregates avg quality / difficulty / tags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37560" y="2834640"/>
            <a:ext cx="73152" cy="731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7432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Includes top-voted review excerpts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37560" y="3337560"/>
            <a:ext cx="73152" cy="731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Powers aggregate &amp; comparison queries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37560" y="3840480"/>
            <a:ext cx="73152" cy="731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37490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Example: "Which professor has highest rating?"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80760" y="123444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0760" y="1234440"/>
            <a:ext cx="2743200" cy="40233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0760" y="123444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Type B — Curriculum Chunks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17920" y="1828800"/>
            <a:ext cx="7315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1737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500-character fixed size, 100-char overlap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17920" y="2331720"/>
            <a:ext cx="7315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22402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RecursiveCharacterTextSplitter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17920" y="2834640"/>
            <a:ext cx="7315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27432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Sentence-boundary snapping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17920" y="3337560"/>
            <a:ext cx="7315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Handles mixed lists + prose on curriculum pages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17920" y="3840480"/>
            <a:ext cx="7315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55080" y="37490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339 total chunks across 19 documents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28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RETRIEVAL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&amp; Retrieval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41148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Embedding Model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CA8"/>
                </a:solidFill>
              </a:rPr>
              <a:t>Model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83080" y="16916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all-MiniLM-L6-v2 (sentence-transformers)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22199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CA8"/>
                </a:solidFill>
              </a:rPr>
              <a:t>Dimensions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83080" y="22219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384-dimensional vectors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752344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CA8"/>
                </a:solidFill>
              </a:rPr>
              <a:t>Distance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83080" y="275234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Cosine similarity (ChromaDB)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282696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CA8"/>
                </a:solidFill>
              </a:rPr>
              <a:t>Top-k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83080" y="328269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5 chunks retrieved per query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81304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CA8"/>
                </a:solidFill>
              </a:rPr>
              <a:t>Cost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83080" y="38130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Zero — runs fully local, no API key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40690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Production tradeoff: OpenAI text-embedding-3-large would offer longer context and better domain accuracy at added latency and API cost.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1234440"/>
            <a:ext cx="4114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234440"/>
            <a:ext cx="411480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2344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Pre-Filtered Hybrid Search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1737360"/>
            <a:ext cx="658368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73736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1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486400" y="16916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Semantic router assigns query to tier (review / summary / curriculum)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267712"/>
            <a:ext cx="658368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26771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2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486400" y="222199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Extract named entities (professor name, course code) from query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2798064"/>
            <a:ext cx="658368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79806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3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486400" y="2752344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Apply hard metadata pre-filter on extracted entities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3328416"/>
            <a:ext cx="658368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32841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4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86400" y="3282696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Cosine search top-k=5 within filtered subset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3858768"/>
            <a:ext cx="658368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85876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Fallback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486400" y="381304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Low confidence → pool all tiers and globally re-rank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28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QUERY ROUTING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Semantic Router (Option 6)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2004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#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04088" y="1234440"/>
            <a:ext cx="141732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2344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Approach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39696" y="1234440"/>
            <a:ext cx="187452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39696" y="12344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032504" y="1234440"/>
            <a:ext cx="187452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32504" y="12344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527048"/>
            <a:ext cx="3200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545336"/>
            <a:ext cx="228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04088" y="1527048"/>
            <a:ext cx="14173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1545336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Keyword patch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39696" y="1527048"/>
            <a:ext cx="18745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85416" y="1545336"/>
            <a:ext cx="1783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Fast, deterministic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032504" y="1527048"/>
            <a:ext cx="18745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78224" y="1545336"/>
            <a:ext cx="1783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Brittle to unseen phrasings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1883664"/>
            <a:ext cx="320040" cy="338328"/>
          </a:xfrm>
          <a:prstGeom prst="rect">
            <a:avLst/>
          </a:prstGeom>
          <a:solidFill>
            <a:srgbClr val="F8FB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1901952"/>
            <a:ext cx="228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04088" y="1883664"/>
            <a:ext cx="1417320" cy="338328"/>
          </a:xfrm>
          <a:prstGeom prst="rect">
            <a:avLst/>
          </a:prstGeom>
          <a:solidFill>
            <a:srgbClr val="F8FB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1901952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Weighted scoring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139696" y="1883664"/>
            <a:ext cx="1874520" cy="338328"/>
          </a:xfrm>
          <a:prstGeom prst="rect">
            <a:avLst/>
          </a:prstGeom>
          <a:solidFill>
            <a:srgbClr val="F8FB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85416" y="1901952"/>
            <a:ext cx="1783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Better than pure keyword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032504" y="1883664"/>
            <a:ext cx="1874520" cy="338328"/>
          </a:xfrm>
          <a:prstGeom prst="rect">
            <a:avLst/>
          </a:prstGeom>
          <a:solidFill>
            <a:srgbClr val="F8FB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78224" y="1901952"/>
            <a:ext cx="1783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Weight tuning, keyword-dependent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2240280"/>
            <a:ext cx="3200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258568"/>
            <a:ext cx="228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04088" y="2240280"/>
            <a:ext cx="14173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2258568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Embedding-only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139696" y="2240280"/>
            <a:ext cx="18745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85416" y="2258568"/>
            <a:ext cx="1783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Reuses model, no extra cost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032504" y="2240280"/>
            <a:ext cx="18745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78224" y="2258568"/>
            <a:ext cx="1783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Needs anchor examples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2596896"/>
            <a:ext cx="320040" cy="338328"/>
          </a:xfrm>
          <a:prstGeom prst="rect">
            <a:avLst/>
          </a:prstGeom>
          <a:solidFill>
            <a:srgbClr val="F8FB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2615184"/>
            <a:ext cx="228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4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04088" y="2596896"/>
            <a:ext cx="1417320" cy="338328"/>
          </a:xfrm>
          <a:prstGeom prst="rect">
            <a:avLst/>
          </a:prstGeom>
          <a:solidFill>
            <a:srgbClr val="F8FB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9808" y="2615184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LLM classifier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139696" y="2596896"/>
            <a:ext cx="1874520" cy="338328"/>
          </a:xfrm>
          <a:prstGeom prst="rect">
            <a:avLst/>
          </a:prstGeom>
          <a:solidFill>
            <a:srgbClr val="F8FB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85416" y="2615184"/>
            <a:ext cx="1783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Most robust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032504" y="2596896"/>
            <a:ext cx="1874520" cy="338328"/>
          </a:xfrm>
          <a:prstGeom prst="rect">
            <a:avLst/>
          </a:prstGeom>
          <a:solidFill>
            <a:srgbClr val="F8FB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78224" y="2615184"/>
            <a:ext cx="1783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Extra API round-trip, cost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2953512"/>
            <a:ext cx="3200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2971800"/>
            <a:ext cx="228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5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04088" y="2953512"/>
            <a:ext cx="14173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9808" y="2971800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No routing (all tiers)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139696" y="2953512"/>
            <a:ext cx="18745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85416" y="2971800"/>
            <a:ext cx="1783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Eliminates routing failure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032504" y="2953512"/>
            <a:ext cx="18745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78224" y="2971800"/>
            <a:ext cx="1783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~3x retrieval calls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65760" y="3310128"/>
            <a:ext cx="320040" cy="338328"/>
          </a:xfrm>
          <a:prstGeom prst="rect">
            <a:avLst/>
          </a:prstGeom>
          <a:solidFill>
            <a:srgbClr val="E0F2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328416"/>
            <a:ext cx="228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6 ✓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04088" y="3310128"/>
            <a:ext cx="1417320" cy="338328"/>
          </a:xfrm>
          <a:prstGeom prst="rect">
            <a:avLst/>
          </a:prstGeom>
          <a:solidFill>
            <a:srgbClr val="E0F2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9808" y="3328416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Hybrid fast-path + fallback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139696" y="3310128"/>
            <a:ext cx="1874520" cy="338328"/>
          </a:xfrm>
          <a:prstGeom prst="rect">
            <a:avLst/>
          </a:prstGeom>
          <a:solidFill>
            <a:srgbClr val="E0F2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185416" y="3328416"/>
            <a:ext cx="1783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Fast + robust, no new deps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032504" y="3310128"/>
            <a:ext cx="1874520" cy="338328"/>
          </a:xfrm>
          <a:prstGeom prst="rect">
            <a:avLst/>
          </a:prstGeom>
          <a:solidFill>
            <a:srgbClr val="E0F2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78224" y="3328416"/>
            <a:ext cx="1783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More code paths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74904" y="3310128"/>
            <a:ext cx="64008" cy="3383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26480" y="1234440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126480" y="1234440"/>
            <a:ext cx="2697480" cy="32918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26480" y="123444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Routing Results (5 Eval Qs)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217920" y="16459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Q1 Curriculum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7863840" y="1700784"/>
            <a:ext cx="548640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863840" y="17007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1.00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217920" y="21579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Q2 CSCI 5502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7863840" y="2212848"/>
            <a:ext cx="548640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863840" y="22128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0.56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6217920" y="267004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Q3 Highest rating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7863840" y="2724912"/>
            <a:ext cx="548640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863840" y="272491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0.81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6217920" y="318211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Q4 Grading fairness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7863840" y="3236976"/>
            <a:ext cx="548640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863840" y="32369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0.63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6217920" y="369417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Q5 Electives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7863840" y="3749040"/>
            <a:ext cx="548640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863840" y="374904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0.86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6217920" y="42519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All 5 route correctly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(threshold = 0.35)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28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GENERATION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Generation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411480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 Configuration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CA8"/>
                </a:solidFill>
              </a:rPr>
              <a:t>Provider: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45920" y="1645920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Groq (hosted inference)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CA8"/>
                </a:solidFill>
              </a:rPr>
              <a:t>Model: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0" y="2029968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llama-3.3-70b-versatile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414016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CA8"/>
                </a:solidFill>
              </a:rPr>
              <a:t>Temperature: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45920" y="2414016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0.2 (low, for consistency)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79806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CA8"/>
                </a:solidFill>
              </a:rPr>
              <a:t>Output: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45920" y="2798064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Streamed to Streamlit UI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24612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46120"/>
            <a:ext cx="4114800" cy="32918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4612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Grounding Rules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694176"/>
            <a:ext cx="146304" cy="14630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63931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Answer ONLY from the provided context blocks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3968496"/>
            <a:ext cx="146304" cy="14630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391363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Cite sources inline with [n] notation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4242816"/>
            <a:ext cx="146304" cy="14630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418795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If not enough info → say so; never invent facts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4517136"/>
            <a:ext cx="146304" cy="14630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446227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Opinions = "student reviews", not objective fact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1234440"/>
            <a:ext cx="4114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1234440"/>
            <a:ext cx="4114800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12344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Source Attribution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16459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Retrieved chunks are formatted as numbered context blocks before being passed to the LLM: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2194560"/>
            <a:ext cx="39319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2402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(review) Al Pisano — CSCI 1000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— ratemyprofessors.com/...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 (review) Qin Lv — CSCI 4502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— ratemyprofessors.com/...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00600" y="32918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The Streamlit UI shows a collapsible </a:t>
            </a:r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"Sources" expander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 with chunk attribution, similarity score, and text preview.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0600" y="39319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CLI prints the same source list for each query.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28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EVALUATION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Report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74320" cy="3108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#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926080" cy="3108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2344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Question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02736" y="1234440"/>
            <a:ext cx="1417320" cy="3108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02736" y="123444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Tier Routed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38344" y="1234440"/>
            <a:ext cx="1051560" cy="3108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38344" y="123444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Retrieval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08192" y="1234440"/>
            <a:ext cx="1280160" cy="3108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08192" y="12344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Accuracy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545336"/>
            <a:ext cx="274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581912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Q1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8368" y="1545336"/>
            <a:ext cx="2926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158191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MS-DS required courses?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02736" y="1545336"/>
            <a:ext cx="1417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48456" y="158191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curriculum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38344" y="1545336"/>
            <a:ext cx="10515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11496" y="1636776"/>
            <a:ext cx="905256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11496" y="1636776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Relevant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08192" y="1545336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81344" y="1636776"/>
            <a:ext cx="1133856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81344" y="1636776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Partial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2002536"/>
            <a:ext cx="274320" cy="438912"/>
          </a:xfrm>
          <a:prstGeom prst="rect">
            <a:avLst/>
          </a:prstGeom>
          <a:solidFill>
            <a:srgbClr val="F8FB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039112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Q2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58368" y="2002536"/>
            <a:ext cx="2926080" cy="438912"/>
          </a:xfrm>
          <a:prstGeom prst="rect">
            <a:avLst/>
          </a:prstGeom>
          <a:solidFill>
            <a:srgbClr val="F8FB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" y="203911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Is CSCI 5502 hard?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02736" y="2002536"/>
            <a:ext cx="1417320" cy="438912"/>
          </a:xfrm>
          <a:prstGeom prst="rect">
            <a:avLst/>
          </a:prstGeom>
          <a:solidFill>
            <a:srgbClr val="F8FB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48456" y="203911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review (fixed)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38344" y="2002536"/>
            <a:ext cx="1051560" cy="438912"/>
          </a:xfrm>
          <a:prstGeom prst="rect">
            <a:avLst/>
          </a:prstGeom>
          <a:solidFill>
            <a:srgbClr val="F8FB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11496" y="2093976"/>
            <a:ext cx="905256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11496" y="2093976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Relevant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108192" y="2002536"/>
            <a:ext cx="1280160" cy="438912"/>
          </a:xfrm>
          <a:prstGeom prst="rect">
            <a:avLst/>
          </a:prstGeom>
          <a:solidFill>
            <a:srgbClr val="F8FB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81344" y="2093976"/>
            <a:ext cx="1133856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81344" y="2093976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Partial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65760" y="2459736"/>
            <a:ext cx="274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2496312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Q3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58368" y="2459736"/>
            <a:ext cx="2926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4088" y="249631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Highest-rated professor?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602736" y="2459736"/>
            <a:ext cx="1417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48456" y="249631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summary (fixed)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038344" y="2459736"/>
            <a:ext cx="10515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111496" y="2551176"/>
            <a:ext cx="905256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11496" y="2551176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Relevant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108192" y="2459736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81344" y="2551176"/>
            <a:ext cx="1133856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81344" y="2551176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Partial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65760" y="2916936"/>
            <a:ext cx="274320" cy="438912"/>
          </a:xfrm>
          <a:prstGeom prst="rect">
            <a:avLst/>
          </a:prstGeom>
          <a:solidFill>
            <a:srgbClr val="F8FB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2953512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Q4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58368" y="2916936"/>
            <a:ext cx="2926080" cy="438912"/>
          </a:xfrm>
          <a:prstGeom prst="rect">
            <a:avLst/>
          </a:prstGeom>
          <a:solidFill>
            <a:srgbClr val="F8FB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4088" y="295351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Grading fairness in stats?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602736" y="2916936"/>
            <a:ext cx="1417320" cy="438912"/>
          </a:xfrm>
          <a:prstGeom prst="rect">
            <a:avLst/>
          </a:prstGeom>
          <a:solidFill>
            <a:srgbClr val="F8FB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48456" y="295351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review (fixed)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038344" y="2916936"/>
            <a:ext cx="1051560" cy="438912"/>
          </a:xfrm>
          <a:prstGeom prst="rect">
            <a:avLst/>
          </a:prstGeom>
          <a:solidFill>
            <a:srgbClr val="F8FB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111496" y="3008376"/>
            <a:ext cx="905256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111496" y="3008376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Relevant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108192" y="2916936"/>
            <a:ext cx="1280160" cy="438912"/>
          </a:xfrm>
          <a:prstGeom prst="rect">
            <a:avLst/>
          </a:prstGeom>
          <a:solidFill>
            <a:srgbClr val="F8FB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181344" y="3008376"/>
            <a:ext cx="1133856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81344" y="3008376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Accurate ✓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65760" y="3374136"/>
            <a:ext cx="274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11480" y="3410712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Q5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58368" y="3374136"/>
            <a:ext cx="2926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04088" y="341071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MS-DS elective courses?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602736" y="3374136"/>
            <a:ext cx="1417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648456" y="341071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curriculum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038344" y="3374136"/>
            <a:ext cx="10515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111496" y="3465576"/>
            <a:ext cx="905256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111496" y="3465576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Relevant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108192" y="3374136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181344" y="3465576"/>
            <a:ext cx="1133856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81344" y="3465576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Partial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365760" y="3886200"/>
            <a:ext cx="8412480" cy="960120"/>
          </a:xfrm>
          <a:prstGeom prst="rect">
            <a:avLst/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02920" y="3931920"/>
            <a:ext cx="8138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Key finding: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Replacing the keyword router with the hybrid semantic router fixed Q2, Q3, and Q4 — all mis-routed from "Inaccurate/no answer" to the correct tier. Q4 improved from a complete non-answer to a fully cited, grounded response. Honest data-coverage gaps (Q2, Q3) now surface correctly rather than as routing bugs.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28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AI USAGE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Usage &amp; Spec Reflection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206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42062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Instance 1 — Generation Layer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1700784"/>
            <a:ext cx="566928" cy="21945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0078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Input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43000" y="1664208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Input: planning_raw.md generation milestone + search.py interface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249424"/>
            <a:ext cx="566928" cy="21945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4942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Output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43000" y="2212848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Output: generate.py (grounding prompt, streamed Groq calls, CLI) + app.py (Streamlit chat + Sources expander)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798064"/>
            <a:ext cx="566928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9806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Override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43000" y="2761488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Override: confirmed Groq (not xAI Grok) based on gsk_ key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0" y="1234440"/>
            <a:ext cx="4206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1234440"/>
            <a:ext cx="420624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2344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Instance 2 — Safety Hardening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37760" y="1700784"/>
            <a:ext cx="566928" cy="21945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70078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Input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577840" y="1664208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Input: index.py + request to analyze failure scenarios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937760" y="2249424"/>
            <a:ext cx="566928" cy="21945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24942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Output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577840" y="2212848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Output: failure mode list + hardened index.py with exit codes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37760" y="2798064"/>
            <a:ext cx="566928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79806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Override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577840" y="2761488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Override: pinned safetensors==0.4.3, upgraded chromadb, added UTF-8 stdout for Windows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657600"/>
            <a:ext cx="8412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657600"/>
            <a:ext cx="4114800" cy="320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657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helped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3657600"/>
            <a:ext cx="411480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3657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diverged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02336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planning_raw.md defined chunk metadata schema + search interface up front — so chunk.py / index.py / search.py interfaces fell out cleanly.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54880" y="402336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Spec did not restrict document formats — implementation intentionally excluded PDFs to avoid parsing complexity (layout/encoding issues) and keep the corpus clean JSON only.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097280"/>
            <a:ext cx="3200400" cy="3200400"/>
          </a:xfrm>
          <a:prstGeom prst="ellipse">
            <a:avLst/>
          </a:prstGeom>
          <a:solidFill>
            <a:srgbClr val="1B6CA8">
              <a:alpha val="20000"/>
            </a:srgbClr>
          </a:solidFill>
          <a:ln w="12700">
            <a:solidFill>
              <a:srgbClr val="1B6CA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7863840" cy="5852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54864" cy="58521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5389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A5E9"/>
                </a:solidFill>
              </a:rPr>
              <a:t>RAG over candid reviews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17520" y="1453896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Combines RMP student reviews + official curriculum into one grounded QA system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112264"/>
            <a:ext cx="7863840" cy="5852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112264"/>
            <a:ext cx="54864" cy="58521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1488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A5E9"/>
                </a:solidFill>
              </a:rPr>
              <a:t>3-tier chunking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17520" y="2148840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Separate review / summary / curriculum chunk types enable both specific and aggregate queries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807208"/>
            <a:ext cx="7863840" cy="5852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07208"/>
            <a:ext cx="54864" cy="58521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84378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A5E9"/>
                </a:solidFill>
              </a:rPr>
              <a:t>Semantic routing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17520" y="2843784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Hybrid semantic router (Option 6) fixed 3/5 mis-routed queries vs. keyword baseline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502152"/>
            <a:ext cx="7863840" cy="5852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502152"/>
            <a:ext cx="54864" cy="58521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538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A5E9"/>
                </a:solidFill>
              </a:rPr>
              <a:t>Zero-cost local embed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17520" y="3538728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all-MiniLM-L6-v2 runs locally — no API key, no rate limits, fully grounded answers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4197096"/>
            <a:ext cx="7863840" cy="5852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197096"/>
            <a:ext cx="54864" cy="58521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23367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A5E9"/>
                </a:solidFill>
              </a:rPr>
              <a:t>Honest grounding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017520" y="4233672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Model refuses to invent — surfaces data-coverage gaps transparently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Unofficial Guide — RAG System for CU Boulder MS-DS</dc:title>
  <dc:subject>PptxGenJS Presentation</dc:subject>
  <dc:creator>PptxGenJS</dc:creator>
  <cp:lastModifiedBy>PptxGenJS</cp:lastModifiedBy>
  <cp:revision>1</cp:revision>
  <dcterms:created xsi:type="dcterms:W3CDTF">2026-06-08T00:59:19Z</dcterms:created>
  <dcterms:modified xsi:type="dcterms:W3CDTF">2026-06-08T00:59:19Z</dcterms:modified>
</cp:coreProperties>
</file>